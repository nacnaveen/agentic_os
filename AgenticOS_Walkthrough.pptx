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822960"/>
            <a:ext cx="82296" cy="82296"/>
          </a:xfrm>
          <a:prstGeom prst="ellipse">
            <a:avLst/>
          </a:prstGeom>
          <a:solidFill>
            <a:srgbClr val="1FB6A8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1280160"/>
            <a:ext cx="54864" cy="54864"/>
          </a:xfrm>
          <a:prstGeom prst="ellipse">
            <a:avLst/>
          </a:prstGeom>
          <a:solidFill>
            <a:srgbClr val="1FB6A8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640080"/>
            <a:ext cx="45720" cy="45720"/>
          </a:xfrm>
          <a:prstGeom prst="ellipse">
            <a:avLst/>
          </a:prstGeom>
          <a:solidFill>
            <a:srgbClr val="1FB6A8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966960" y="1737360"/>
            <a:ext cx="45720" cy="45720"/>
          </a:xfrm>
          <a:prstGeom prst="ellipse">
            <a:avLst/>
          </a:prstGeom>
          <a:solidFill>
            <a:srgbClr val="1FB6A8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1371600"/>
            <a:ext cx="73152" cy="73152"/>
          </a:xfrm>
          <a:prstGeom prst="ellipse">
            <a:avLst/>
          </a:prstGeom>
          <a:solidFill>
            <a:srgbClr val="1FB6A8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0" y="2103120"/>
            <a:ext cx="36576" cy="36576"/>
          </a:xfrm>
          <a:prstGeom prst="ellipse">
            <a:avLst/>
          </a:prstGeom>
          <a:solidFill>
            <a:srgbClr val="1FB6A8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1FB6A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1128370"/>
            <a:ext cx="395021" cy="39502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265176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AGENTICOS</a:t>
            </a:r>
            <a:endParaRPr lang="en-US" sz="5400" dirty="0"/>
          </a:p>
        </p:txBody>
      </p:sp>
      <p:sp>
        <p:nvSpPr>
          <p:cNvPr id="11" name="Text 8"/>
          <p:cNvSpPr/>
          <p:nvPr/>
        </p:nvSpPr>
        <p:spPr>
          <a:xfrm>
            <a:off x="822960" y="3611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AI Platform for Building Operations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822960" y="4343400"/>
            <a:ext cx="2011680" cy="0"/>
          </a:xfrm>
          <a:prstGeom prst="line">
            <a:avLst/>
          </a:prstGeom>
          <a:noFill/>
          <a:ln w="25400">
            <a:solidFill>
              <a:srgbClr val="1FB6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45262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Walkthrough  •  Architecture, Orchestration &amp; Reasoning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Specialized Agents, One Coherent Answer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AgenticOS helps building operators analyze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alarms, assets, energy consumption,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documentation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 single AI model, the system coordinates multiple specialized agents through LangGraph — each with a clear responsibility — to produce a response that is accurate, explainable, and grounded.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4187952"/>
            <a:ext cx="128016" cy="128016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407822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03320" y="4187952"/>
            <a:ext cx="128016" cy="128016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9" name="Text 7"/>
          <p:cNvSpPr/>
          <p:nvPr/>
        </p:nvSpPr>
        <p:spPr>
          <a:xfrm>
            <a:off x="3959352" y="407822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690872"/>
            <a:ext cx="128016" cy="128016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458114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03320" y="4690872"/>
            <a:ext cx="128016" cy="128016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13" name="Text 11"/>
          <p:cNvSpPr/>
          <p:nvPr/>
        </p:nvSpPr>
        <p:spPr>
          <a:xfrm>
            <a:off x="3959352" y="458114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Visibility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5193792"/>
            <a:ext cx="128016" cy="128016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508406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Integration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03320" y="5193792"/>
            <a:ext cx="128016" cy="128016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17" name="Text 15"/>
          <p:cNvSpPr/>
          <p:nvPr/>
        </p:nvSpPr>
        <p:spPr>
          <a:xfrm>
            <a:off x="3959352" y="508406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86600" y="1554480"/>
            <a:ext cx="4480560" cy="4480560"/>
          </a:xfrm>
          <a:prstGeom prst="roundRect">
            <a:avLst>
              <a:gd name="adj" fmla="val 2449"/>
            </a:avLst>
          </a:prstGeom>
          <a:solidFill>
            <a:srgbClr val="12143A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869680" y="1965960"/>
            <a:ext cx="914400" cy="914400"/>
          </a:xfrm>
          <a:prstGeom prst="ellipse">
            <a:avLst/>
          </a:prstGeom>
          <a:solidFill>
            <a:srgbClr val="1FB6A8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7424" y="2203704"/>
            <a:ext cx="438912" cy="438912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7452360" y="3200400"/>
            <a:ext cx="82296" cy="8229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2" name="Text 19"/>
          <p:cNvSpPr/>
          <p:nvPr/>
        </p:nvSpPr>
        <p:spPr>
          <a:xfrm>
            <a:off x="7680960" y="3063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Agent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452360" y="3639312"/>
            <a:ext cx="82296" cy="8229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4" name="Text 21"/>
          <p:cNvSpPr/>
          <p:nvPr/>
        </p:nvSpPr>
        <p:spPr>
          <a:xfrm>
            <a:off x="7680960" y="35021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Agent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7452360" y="4078224"/>
            <a:ext cx="82296" cy="8229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6" name="Text 23"/>
          <p:cNvSpPr/>
          <p:nvPr/>
        </p:nvSpPr>
        <p:spPr>
          <a:xfrm>
            <a:off x="7680960" y="394106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Agent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7452360" y="4517136"/>
            <a:ext cx="82296" cy="8229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8" name="Text 25"/>
          <p:cNvSpPr/>
          <p:nvPr/>
        </p:nvSpPr>
        <p:spPr>
          <a:xfrm>
            <a:off x="7680960" y="437997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Agent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7452360" y="4956048"/>
            <a:ext cx="82296" cy="8229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30" name="Text 27"/>
          <p:cNvSpPr/>
          <p:nvPr/>
        </p:nvSpPr>
        <p:spPr>
          <a:xfrm>
            <a:off x="7680960" y="48188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Agent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7452360" y="5394960"/>
            <a:ext cx="82296" cy="8229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32" name="Text 29"/>
          <p:cNvSpPr/>
          <p:nvPr/>
        </p:nvSpPr>
        <p:spPr>
          <a:xfrm>
            <a:off x="7680960" y="5257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Agent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OVERALL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Three-Layer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 orchestration, and the LLM layer work together to plan, execute, and explain every response.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29000" cy="4114800"/>
          </a:xfrm>
          <a:prstGeom prst="roundRect">
            <a:avLst>
              <a:gd name="adj" fmla="val 2667"/>
            </a:avLst>
          </a:prstGeom>
          <a:solidFill>
            <a:srgbClr val="F3F5F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4688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" y="2647188"/>
            <a:ext cx="329184" cy="3291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14400" y="2468880"/>
            <a:ext cx="685800" cy="685800"/>
          </a:xfrm>
          <a:prstGeom prst="ellipse">
            <a:avLst/>
          </a:prstGeom>
          <a:solidFill>
            <a:srgbClr val="1C1F5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65176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33375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914400" y="372160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932688" y="4261104"/>
            <a:ext cx="64008" cy="64008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13" name="Text 9"/>
          <p:cNvSpPr/>
          <p:nvPr/>
        </p:nvSpPr>
        <p:spPr>
          <a:xfrm>
            <a:off x="1097280" y="413308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932688" y="4718304"/>
            <a:ext cx="64008" cy="64008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15" name="Text 11"/>
          <p:cNvSpPr/>
          <p:nvPr/>
        </p:nvSpPr>
        <p:spPr>
          <a:xfrm>
            <a:off x="1097280" y="459028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execution graph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32688" y="5175504"/>
            <a:ext cx="64008" cy="64008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17" name="Text 13"/>
          <p:cNvSpPr/>
          <p:nvPr/>
        </p:nvSpPr>
        <p:spPr>
          <a:xfrm>
            <a:off x="1097280" y="504748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&amp; verification panel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078224" y="3886200"/>
            <a:ext cx="301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9" name="Shape 15"/>
          <p:cNvSpPr/>
          <p:nvPr/>
        </p:nvSpPr>
        <p:spPr>
          <a:xfrm>
            <a:off x="4389120" y="2148840"/>
            <a:ext cx="3429000" cy="4114800"/>
          </a:xfrm>
          <a:prstGeom prst="roundRect">
            <a:avLst>
              <a:gd name="adj" fmla="val 2667"/>
            </a:avLst>
          </a:prstGeom>
          <a:solidFill>
            <a:srgbClr val="F3F5F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663440" y="24688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748" y="2647188"/>
            <a:ext cx="329184" cy="32918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663440" y="2468880"/>
            <a:ext cx="685800" cy="685800"/>
          </a:xfrm>
          <a:prstGeom prst="ellipse">
            <a:avLst/>
          </a:prstGeom>
          <a:solidFill>
            <a:srgbClr val="1C1F5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65176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663440" y="33375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900" dirty="0"/>
          </a:p>
        </p:txBody>
      </p:sp>
      <p:sp>
        <p:nvSpPr>
          <p:cNvPr id="25" name="Text 19"/>
          <p:cNvSpPr/>
          <p:nvPr/>
        </p:nvSpPr>
        <p:spPr>
          <a:xfrm>
            <a:off x="4663440" y="372160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LangGraph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681728" y="4261104"/>
            <a:ext cx="64008" cy="64008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27" name="Text 21"/>
          <p:cNvSpPr/>
          <p:nvPr/>
        </p:nvSpPr>
        <p:spPr>
          <a:xfrm>
            <a:off x="4846320" y="413308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requests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681728" y="4718304"/>
            <a:ext cx="64008" cy="64008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29" name="Text 23"/>
          <p:cNvSpPr/>
          <p:nvPr/>
        </p:nvSpPr>
        <p:spPr>
          <a:xfrm>
            <a:off x="4846320" y="459028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681728" y="5175504"/>
            <a:ext cx="64008" cy="64008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31" name="Text 25"/>
          <p:cNvSpPr/>
          <p:nvPr/>
        </p:nvSpPr>
        <p:spPr>
          <a:xfrm>
            <a:off x="4846320" y="504748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execution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4681728" y="5632704"/>
            <a:ext cx="64008" cy="64008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33" name="Text 27"/>
          <p:cNvSpPr/>
          <p:nvPr/>
        </p:nvSpPr>
        <p:spPr>
          <a:xfrm>
            <a:off x="4846320" y="550468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generation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7827264" y="3886200"/>
            <a:ext cx="301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35" name="Shape 29"/>
          <p:cNvSpPr/>
          <p:nvPr/>
        </p:nvSpPr>
        <p:spPr>
          <a:xfrm>
            <a:off x="8138160" y="2148840"/>
            <a:ext cx="3429000" cy="4114800"/>
          </a:xfrm>
          <a:prstGeom prst="roundRect">
            <a:avLst>
              <a:gd name="adj" fmla="val 2667"/>
            </a:avLst>
          </a:prstGeom>
          <a:solidFill>
            <a:srgbClr val="F3F5F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8412480" y="24688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0788" y="2647188"/>
            <a:ext cx="329184" cy="329184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8412480" y="2468880"/>
            <a:ext cx="685800" cy="685800"/>
          </a:xfrm>
          <a:prstGeom prst="ellipse">
            <a:avLst/>
          </a:prstGeom>
          <a:solidFill>
            <a:srgbClr val="1C1F52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2651760"/>
            <a:ext cx="320040" cy="32004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412480" y="33375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Layer</a:t>
            </a:r>
            <a:endParaRPr lang="en-US" sz="1900" dirty="0"/>
          </a:p>
        </p:txBody>
      </p:sp>
      <p:sp>
        <p:nvSpPr>
          <p:cNvPr id="41" name="Text 33"/>
          <p:cNvSpPr/>
          <p:nvPr/>
        </p:nvSpPr>
        <p:spPr>
          <a:xfrm>
            <a:off x="8412480" y="372160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Cloud · Llama 3.3 70B</a:t>
            </a:r>
            <a:endParaRPr lang="en-US" sz="1150" dirty="0"/>
          </a:p>
        </p:txBody>
      </p:sp>
      <p:sp>
        <p:nvSpPr>
          <p:cNvPr id="42" name="Shape 34"/>
          <p:cNvSpPr/>
          <p:nvPr/>
        </p:nvSpPr>
        <p:spPr>
          <a:xfrm>
            <a:off x="8430768" y="4261104"/>
            <a:ext cx="64008" cy="64008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43" name="Text 35"/>
          <p:cNvSpPr/>
          <p:nvPr/>
        </p:nvSpPr>
        <p:spPr>
          <a:xfrm>
            <a:off x="8595360" y="413308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200" dirty="0"/>
          </a:p>
        </p:txBody>
      </p:sp>
      <p:sp>
        <p:nvSpPr>
          <p:cNvPr id="44" name="Shape 36"/>
          <p:cNvSpPr/>
          <p:nvPr/>
        </p:nvSpPr>
        <p:spPr>
          <a:xfrm>
            <a:off x="8430768" y="4718304"/>
            <a:ext cx="64008" cy="64008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45" name="Text 37"/>
          <p:cNvSpPr/>
          <p:nvPr/>
        </p:nvSpPr>
        <p:spPr>
          <a:xfrm>
            <a:off x="8595360" y="459028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</a:t>
            </a:r>
            <a:endParaRPr lang="en-US" sz="1200" dirty="0"/>
          </a:p>
        </p:txBody>
      </p:sp>
      <p:sp>
        <p:nvSpPr>
          <p:cNvPr id="46" name="Shape 38"/>
          <p:cNvSpPr/>
          <p:nvPr/>
        </p:nvSpPr>
        <p:spPr>
          <a:xfrm>
            <a:off x="8430768" y="5175504"/>
            <a:ext cx="64008" cy="64008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47" name="Text 39"/>
          <p:cNvSpPr/>
          <p:nvPr/>
        </p:nvSpPr>
        <p:spPr>
          <a:xfrm>
            <a:off x="8595360" y="504748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synthesis</a:t>
            </a:r>
            <a:endParaRPr lang="en-US" sz="1200" dirty="0"/>
          </a:p>
        </p:txBody>
      </p:sp>
      <p:sp>
        <p:nvSpPr>
          <p:cNvPr id="48" name="Text 4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AGENT ORCHESTRATION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LangGraph Coordinates the Agents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874520" cy="2331720"/>
          </a:xfrm>
          <a:prstGeom prst="roundRect">
            <a:avLst>
              <a:gd name="adj" fmla="val 4878"/>
            </a:avLst>
          </a:prstGeom>
          <a:solidFill>
            <a:srgbClr val="1C1F52"/>
          </a:solidFill>
          <a:ln/>
        </p:spPr>
      </p:sp>
      <p:sp>
        <p:nvSpPr>
          <p:cNvPr id="5" name="Shape 3"/>
          <p:cNvSpPr/>
          <p:nvPr/>
        </p:nvSpPr>
        <p:spPr>
          <a:xfrm>
            <a:off x="1257300" y="2221992"/>
            <a:ext cx="640080" cy="640080"/>
          </a:xfrm>
          <a:prstGeom prst="ellipse">
            <a:avLst/>
          </a:prstGeom>
          <a:solidFill>
            <a:srgbClr val="1FB6A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604" y="2368296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3017520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Agent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8096" y="3502152"/>
            <a:ext cx="1618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execution plan and selects required agents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514600" y="2788920"/>
            <a:ext cx="3771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891790" y="1965960"/>
            <a:ext cx="1874520" cy="2331720"/>
          </a:xfrm>
          <a:prstGeom prst="roundRect">
            <a:avLst>
              <a:gd name="adj" fmla="val 4878"/>
            </a:avLst>
          </a:prstGeom>
          <a:solidFill>
            <a:srgbClr val="1C1F52"/>
          </a:solidFill>
          <a:ln/>
        </p:spPr>
      </p:sp>
      <p:sp>
        <p:nvSpPr>
          <p:cNvPr id="11" name="Shape 8"/>
          <p:cNvSpPr/>
          <p:nvPr/>
        </p:nvSpPr>
        <p:spPr>
          <a:xfrm>
            <a:off x="3509010" y="2221992"/>
            <a:ext cx="640080" cy="640080"/>
          </a:xfrm>
          <a:prstGeom prst="ellipse">
            <a:avLst/>
          </a:prstGeom>
          <a:solidFill>
            <a:srgbClr val="1FB6A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314" y="2368296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01518" y="3017520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Agents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019806" y="3502152"/>
            <a:ext cx="1618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agents run in parallel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766310" y="2788920"/>
            <a:ext cx="3771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5143500" y="1965960"/>
            <a:ext cx="1874520" cy="2331720"/>
          </a:xfrm>
          <a:prstGeom prst="roundRect">
            <a:avLst>
              <a:gd name="adj" fmla="val 4878"/>
            </a:avLst>
          </a:prstGeom>
          <a:solidFill>
            <a:srgbClr val="1C1F52"/>
          </a:solidFill>
          <a:ln/>
        </p:spPr>
      </p:sp>
      <p:sp>
        <p:nvSpPr>
          <p:cNvPr id="17" name="Shape 13"/>
          <p:cNvSpPr/>
          <p:nvPr/>
        </p:nvSpPr>
        <p:spPr>
          <a:xfrm>
            <a:off x="5760720" y="2221992"/>
            <a:ext cx="640080" cy="640080"/>
          </a:xfrm>
          <a:prstGeom prst="ellipse">
            <a:avLst/>
          </a:prstGeom>
          <a:solidFill>
            <a:srgbClr val="1FB6A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2368296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53228" y="3017520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271516" y="3502152"/>
            <a:ext cx="1618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merged after completion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7018020" y="2788920"/>
            <a:ext cx="3771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7395210" y="1965960"/>
            <a:ext cx="1874520" cy="2331720"/>
          </a:xfrm>
          <a:prstGeom prst="roundRect">
            <a:avLst>
              <a:gd name="adj" fmla="val 4878"/>
            </a:avLst>
          </a:prstGeom>
          <a:solidFill>
            <a:srgbClr val="1C1F52"/>
          </a:solidFill>
          <a:ln/>
        </p:spPr>
      </p:sp>
      <p:sp>
        <p:nvSpPr>
          <p:cNvPr id="23" name="Shape 18"/>
          <p:cNvSpPr/>
          <p:nvPr/>
        </p:nvSpPr>
        <p:spPr>
          <a:xfrm>
            <a:off x="8012430" y="2221992"/>
            <a:ext cx="640080" cy="640080"/>
          </a:xfrm>
          <a:prstGeom prst="ellipse">
            <a:avLst/>
          </a:prstGeom>
          <a:solidFill>
            <a:srgbClr val="1FB6A8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734" y="2368296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504938" y="3017520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Agent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523226" y="3502152"/>
            <a:ext cx="1618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final response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9269730" y="2788920"/>
            <a:ext cx="3771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9646920" y="1965960"/>
            <a:ext cx="1874520" cy="2331720"/>
          </a:xfrm>
          <a:prstGeom prst="roundRect">
            <a:avLst>
              <a:gd name="adj" fmla="val 4878"/>
            </a:avLst>
          </a:prstGeom>
          <a:solidFill>
            <a:srgbClr val="1C1F52"/>
          </a:solidFill>
          <a:ln/>
        </p:spPr>
      </p:sp>
      <p:sp>
        <p:nvSpPr>
          <p:cNvPr id="29" name="Shape 23"/>
          <p:cNvSpPr/>
          <p:nvPr/>
        </p:nvSpPr>
        <p:spPr>
          <a:xfrm>
            <a:off x="10264140" y="2221992"/>
            <a:ext cx="640080" cy="640080"/>
          </a:xfrm>
          <a:prstGeom prst="ellipse">
            <a:avLst/>
          </a:prstGeom>
          <a:solidFill>
            <a:srgbClr val="1FB6A8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0444" y="2368296"/>
            <a:ext cx="347472" cy="34747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756648" y="3017520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Agent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9774936" y="3502152"/>
            <a:ext cx="1618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output before returning to the user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640080" y="47091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CBD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 orchestration makes the workflow deterministic, modular, and easy to extend — adding a new specialist agent is just one more node in the graph.</a:t>
            </a:r>
            <a:endParaRPr lang="en-US" sz="1350" dirty="0"/>
          </a:p>
        </p:txBody>
      </p:sp>
      <p:sp>
        <p:nvSpPr>
          <p:cNvPr id="34" name="Text 2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REASONING VISIBILITY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 by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important agent decision is recorded and streamed live to the frontend — users see how an answer was produced, not just the answer itself.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94360" cy="594360"/>
          </a:xfrm>
          <a:prstGeom prst="ellipse">
            <a:avLst/>
          </a:prstGeom>
          <a:solidFill>
            <a:srgbClr val="F3F5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614" y="26691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49631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Agent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17320" y="2825496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why certain agents were selected for the query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474720"/>
            <a:ext cx="594360" cy="594360"/>
          </a:xfrm>
          <a:prstGeom prst="ellipse">
            <a:avLst/>
          </a:prstGeom>
          <a:solidFill>
            <a:srgbClr val="F3F5F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14" y="362925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45643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Agents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417320" y="3785616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which tools were called, parameters used, and information retrieved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4434840"/>
            <a:ext cx="594360" cy="594360"/>
          </a:xfrm>
          <a:prstGeom prst="ellipse">
            <a:avLst/>
          </a:prstGeom>
          <a:solidFill>
            <a:srgbClr val="F3F5F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14" y="4589374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4165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Streaming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417320" y="4745736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steps are streamed to the frontend in real time via WebSockets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086600" y="1554480"/>
            <a:ext cx="4480560" cy="4480560"/>
          </a:xfrm>
          <a:prstGeom prst="roundRect">
            <a:avLst>
              <a:gd name="adj" fmla="val 2449"/>
            </a:avLst>
          </a:prstGeom>
          <a:solidFill>
            <a:srgbClr val="12143A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182880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863840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Panel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7406640" y="2423160"/>
            <a:ext cx="3840480" cy="566928"/>
          </a:xfrm>
          <a:prstGeom prst="rect">
            <a:avLst/>
          </a:prstGeom>
          <a:solidFill>
            <a:srgbClr val="1C1F52"/>
          </a:solidFill>
          <a:ln/>
        </p:spPr>
      </p:sp>
      <p:sp>
        <p:nvSpPr>
          <p:cNvPr id="21" name="Text 15"/>
          <p:cNvSpPr/>
          <p:nvPr/>
        </p:nvSpPr>
        <p:spPr>
          <a:xfrm>
            <a:off x="7543800" y="24688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7543800" y="26791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Selected: Energy Agent, Asset Agent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7406640" y="3099816"/>
            <a:ext cx="3840480" cy="566928"/>
          </a:xfrm>
          <a:prstGeom prst="rect">
            <a:avLst/>
          </a:prstGeom>
          <a:solidFill>
            <a:srgbClr val="1C1F52"/>
          </a:solidFill>
          <a:ln/>
        </p:spPr>
      </p:sp>
      <p:sp>
        <p:nvSpPr>
          <p:cNvPr id="24" name="Text 18"/>
          <p:cNvSpPr/>
          <p:nvPr/>
        </p:nvSpPr>
        <p:spPr>
          <a:xfrm>
            <a:off x="7543800" y="314553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Agent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7543800" y="33558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Tool: get_energy_metrics(asset="Chiller-01")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7406640" y="3776472"/>
            <a:ext cx="3840480" cy="566928"/>
          </a:xfrm>
          <a:prstGeom prst="rect">
            <a:avLst/>
          </a:prstGeom>
          <a:solidFill>
            <a:srgbClr val="1C1F52"/>
          </a:solidFill>
          <a:ln/>
        </p:spPr>
      </p:sp>
      <p:sp>
        <p:nvSpPr>
          <p:cNvPr id="27" name="Text 21"/>
          <p:cNvSpPr/>
          <p:nvPr/>
        </p:nvSpPr>
        <p:spPr>
          <a:xfrm>
            <a:off x="7543800" y="382219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Agent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7543800" y="40325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Tool: get_asset_info(id="Chiller-01")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7406640" y="4453128"/>
            <a:ext cx="3840480" cy="566928"/>
          </a:xfrm>
          <a:prstGeom prst="rect">
            <a:avLst/>
          </a:prstGeom>
          <a:solidFill>
            <a:srgbClr val="1C1F52"/>
          </a:solidFill>
          <a:ln/>
        </p:spPr>
      </p:sp>
      <p:sp>
        <p:nvSpPr>
          <p:cNvPr id="30" name="Text 24"/>
          <p:cNvSpPr/>
          <p:nvPr/>
        </p:nvSpPr>
        <p:spPr>
          <a:xfrm>
            <a:off x="7543800" y="44988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7543800" y="4709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Synthesizing combined response…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7406640" y="5129784"/>
            <a:ext cx="3840480" cy="566928"/>
          </a:xfrm>
          <a:prstGeom prst="rect">
            <a:avLst/>
          </a:prstGeom>
          <a:solidFill>
            <a:srgbClr val="1C1F52"/>
          </a:solidFill>
          <a:ln/>
        </p:spPr>
      </p:sp>
      <p:sp>
        <p:nvSpPr>
          <p:cNvPr id="33" name="Text 27"/>
          <p:cNvSpPr/>
          <p:nvPr/>
        </p:nvSpPr>
        <p:spPr>
          <a:xfrm>
            <a:off x="7543800" y="517550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7543800" y="53858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Checking numerical values &amp; asset IDs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AGENT SPAWNING DECISIONS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the Agents That Are Needed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planner selectively spawns agents relevant to the query — reducing latency, token usage, and overall execution cost.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F3F5F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468880"/>
            <a:ext cx="594360" cy="594360"/>
          </a:xfrm>
          <a:prstGeom prst="ellipse">
            <a:avLst/>
          </a:prstGeom>
          <a:solidFill>
            <a:srgbClr val="1C1F5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624328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24612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i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is BACnet?”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41148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932688" y="4498848"/>
            <a:ext cx="64008" cy="64008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4379976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Agent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89120" y="219456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F3F5F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2468880"/>
            <a:ext cx="594360" cy="594360"/>
          </a:xfrm>
          <a:prstGeom prst="ellipse">
            <a:avLst/>
          </a:prstGeom>
          <a:solidFill>
            <a:srgbClr val="1C1F5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2624328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63440" y="324612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i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“Show energy consumption for Chiller-01”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663440" y="41148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81728" y="4498848"/>
            <a:ext cx="64008" cy="64008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18" name="Text 14"/>
          <p:cNvSpPr/>
          <p:nvPr/>
        </p:nvSpPr>
        <p:spPr>
          <a:xfrm>
            <a:off x="4846320" y="4379976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Agent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38160" y="219456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F3F5F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412480" y="2468880"/>
            <a:ext cx="594360" cy="594360"/>
          </a:xfrm>
          <a:prstGeom prst="ellipse">
            <a:avLst/>
          </a:prstGeom>
          <a:solidFill>
            <a:srgbClr val="1C1F5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28" y="2624328"/>
            <a:ext cx="283464" cy="28346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12480" y="324612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i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equipment diagnosis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412480" y="41148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8430768" y="4498848"/>
            <a:ext cx="64008" cy="64008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25" name="Text 20"/>
          <p:cNvSpPr/>
          <p:nvPr/>
        </p:nvSpPr>
        <p:spPr>
          <a:xfrm>
            <a:off x="8595360" y="4379976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Agent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8430768" y="4882896"/>
            <a:ext cx="64008" cy="64008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27" name="Text 22"/>
          <p:cNvSpPr/>
          <p:nvPr/>
        </p:nvSpPr>
        <p:spPr>
          <a:xfrm>
            <a:off x="8595360" y="4764024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Agent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8430768" y="5266944"/>
            <a:ext cx="64008" cy="64008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29" name="Text 24"/>
          <p:cNvSpPr/>
          <p:nvPr/>
        </p:nvSpPr>
        <p:spPr>
          <a:xfrm>
            <a:off x="8595360" y="514807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Agent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8430768" y="5650992"/>
            <a:ext cx="64008" cy="64008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31" name="Text 26"/>
          <p:cNvSpPr/>
          <p:nvPr/>
        </p:nvSpPr>
        <p:spPr>
          <a:xfrm>
            <a:off x="8595360" y="55321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Agent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TOOL 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Agent, Its Own Toolset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tools today, real integrations tomorrow — the tool interface is designed so BACnet, SCADA, or CMMS systems can replace mocks without touching agent logic.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1C1F52"/>
          </a:solidFill>
          <a:ln/>
        </p:spPr>
      </p:sp>
      <p:sp>
        <p:nvSpPr>
          <p:cNvPr id="6" name="Shape 4"/>
          <p:cNvSpPr/>
          <p:nvPr/>
        </p:nvSpPr>
        <p:spPr>
          <a:xfrm>
            <a:off x="1623060" y="2606040"/>
            <a:ext cx="640080" cy="640080"/>
          </a:xfrm>
          <a:prstGeom prst="ellipse">
            <a:avLst/>
          </a:prstGeom>
          <a:solidFill>
            <a:srgbClr val="1FB6A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508" y="276148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474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Agent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9776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Accesses asset information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502152" y="22860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1C1F52"/>
          </a:solidFill>
          <a:ln/>
        </p:spPr>
      </p:sp>
      <p:sp>
        <p:nvSpPr>
          <p:cNvPr id="11" name="Shape 8"/>
          <p:cNvSpPr/>
          <p:nvPr/>
        </p:nvSpPr>
        <p:spPr>
          <a:xfrm>
            <a:off x="4485132" y="2606040"/>
            <a:ext cx="640080" cy="640080"/>
          </a:xfrm>
          <a:prstGeom prst="ellipse">
            <a:avLst/>
          </a:prstGeom>
          <a:solidFill>
            <a:srgbClr val="1FB6A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580" y="276148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3474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Agent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85032" y="39776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alarm history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364224" y="22860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1C1F52"/>
          </a:solidFill>
          <a:ln/>
        </p:spPr>
      </p:sp>
      <p:sp>
        <p:nvSpPr>
          <p:cNvPr id="16" name="Shape 12"/>
          <p:cNvSpPr/>
          <p:nvPr/>
        </p:nvSpPr>
        <p:spPr>
          <a:xfrm>
            <a:off x="7347204" y="2606040"/>
            <a:ext cx="640080" cy="640080"/>
          </a:xfrm>
          <a:prstGeom prst="ellipse">
            <a:avLst/>
          </a:prstGeom>
          <a:solidFill>
            <a:srgbClr val="1FB6A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2652" y="276148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01384" y="3474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Agent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547104" y="39776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energy metrics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226296" y="22860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1C1F52"/>
          </a:solidFill>
          <a:ln/>
        </p:spPr>
      </p:sp>
      <p:sp>
        <p:nvSpPr>
          <p:cNvPr id="21" name="Shape 16"/>
          <p:cNvSpPr/>
          <p:nvPr/>
        </p:nvSpPr>
        <p:spPr>
          <a:xfrm>
            <a:off x="10209276" y="2606040"/>
            <a:ext cx="640080" cy="640080"/>
          </a:xfrm>
          <a:prstGeom prst="ellipse">
            <a:avLst/>
          </a:prstGeom>
          <a:solidFill>
            <a:srgbClr val="1FB6A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4724" y="276148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63456" y="3474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Agent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409176" y="39776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document search via RAG pipeline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40080" y="5486400"/>
            <a:ext cx="10881360" cy="18288"/>
          </a:xfrm>
          <a:prstGeom prst="rect">
            <a:avLst/>
          </a:prstGeom>
          <a:solidFill>
            <a:srgbClr val="E5E7F5"/>
          </a:solidFill>
          <a:ln/>
        </p:spPr>
      </p:sp>
      <p:sp>
        <p:nvSpPr>
          <p:cNvPr id="26" name="Text 20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data today  →  Real BACnet / SCADA / CMMS integrations tomorrow, without modifying agent logic.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MODEL SELECTION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Llama 3.3 70B on Groq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Groq-supported models were evaluated before settling on the final choice.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F3F5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22199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148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tool-calling accuracy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724912"/>
            <a:ext cx="457200" cy="457200"/>
          </a:xfrm>
          <a:prstGeom prst="ellipse">
            <a:avLst/>
          </a:prstGeom>
          <a:solidFill>
            <a:srgbClr val="F3F5F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843784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77063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JSON output consistency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40080" y="3346704"/>
            <a:ext cx="457200" cy="457200"/>
          </a:xfrm>
          <a:prstGeom prst="ellipse">
            <a:avLst/>
          </a:prstGeom>
          <a:solidFill>
            <a:srgbClr val="F3F5F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465576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339242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hallucination rate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40080" y="3968496"/>
            <a:ext cx="457200" cy="457200"/>
          </a:xfrm>
          <a:prstGeom prst="ellipse">
            <a:avLst/>
          </a:prstGeom>
          <a:solidFill>
            <a:srgbClr val="F3F5FB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4087368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80160" y="401421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inference speed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640080" y="4709160"/>
            <a:ext cx="5806440" cy="1463040"/>
          </a:xfrm>
          <a:prstGeom prst="roundRect">
            <a:avLst>
              <a:gd name="adj" fmla="val 6250"/>
            </a:avLst>
          </a:prstGeom>
          <a:solidFill>
            <a:srgbClr val="F3F5FB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93776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71600" y="491947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Strategy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1371600" y="52578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temperature for the Planner (deterministic plans)  ·  Slightly higher temperature for the Supervisor (natural responses)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7086600" y="1554480"/>
            <a:ext cx="4480560" cy="4617720"/>
          </a:xfrm>
          <a:prstGeom prst="roundRect">
            <a:avLst>
              <a:gd name="adj" fmla="val 2449"/>
            </a:avLst>
          </a:prstGeom>
          <a:solidFill>
            <a:srgbClr val="12143A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8869680" y="1874520"/>
            <a:ext cx="914400" cy="914400"/>
          </a:xfrm>
          <a:prstGeom prst="ellipse">
            <a:avLst/>
          </a:prstGeom>
          <a:solidFill>
            <a:srgbClr val="1C1F52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7424" y="2112264"/>
            <a:ext cx="438912" cy="43891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269480" y="2971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 3.3 70B</a:t>
            </a:r>
            <a:endParaRPr lang="en-US" sz="2200" dirty="0"/>
          </a:p>
        </p:txBody>
      </p:sp>
      <p:sp>
        <p:nvSpPr>
          <p:cNvPr id="25" name="Text 17"/>
          <p:cNvSpPr/>
          <p:nvPr/>
        </p:nvSpPr>
        <p:spPr>
          <a:xfrm>
            <a:off x="7269480" y="3429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Groq Cloud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8001000" y="3931920"/>
            <a:ext cx="2560320" cy="0"/>
          </a:xfrm>
          <a:prstGeom prst="line">
            <a:avLst/>
          </a:prstGeom>
          <a:noFill/>
          <a:ln w="12700">
            <a:solidFill>
              <a:srgbClr val="3A3E7A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8732520" y="4224528"/>
            <a:ext cx="73152" cy="73152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28" name="Text 20"/>
          <p:cNvSpPr/>
          <p:nvPr/>
        </p:nvSpPr>
        <p:spPr>
          <a:xfrm>
            <a:off x="8915400" y="40873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8732520" y="4636008"/>
            <a:ext cx="73152" cy="73152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30" name="Text 22"/>
          <p:cNvSpPr/>
          <p:nvPr/>
        </p:nvSpPr>
        <p:spPr>
          <a:xfrm>
            <a:off x="8915400" y="44988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</a:t>
            </a:r>
            <a:endParaRPr lang="en-US" sz="1250" dirty="0"/>
          </a:p>
        </p:txBody>
      </p:sp>
      <p:sp>
        <p:nvSpPr>
          <p:cNvPr id="31" name="Shape 23"/>
          <p:cNvSpPr/>
          <p:nvPr/>
        </p:nvSpPr>
        <p:spPr>
          <a:xfrm>
            <a:off x="8732520" y="5047488"/>
            <a:ext cx="73152" cy="73152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32" name="Text 24"/>
          <p:cNvSpPr/>
          <p:nvPr/>
        </p:nvSpPr>
        <p:spPr>
          <a:xfrm>
            <a:off x="8915400" y="49103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synthesis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7269480" y="55778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BD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is deterministic and rule-based — no extra LLM call required.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ASSUMPTIONS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Assumed to Move Fast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assumptions simplify development while keeping the architecture production-ready.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3F5F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6060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77246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4747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Consistency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14400" y="397764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data follows the same schema as future production APIs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9120" y="228600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3F5F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26060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861" y="277246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34747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Documents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663440" y="397764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remain relatively static during execution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8160" y="228600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3F5F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0" y="26060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901" y="277246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34747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Instance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412480" y="397764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runs as a single backend instance during this prototype phase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Prototype Stops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1C1F5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94560"/>
            <a:ext cx="502920" cy="502920"/>
          </a:xfrm>
          <a:prstGeom prst="ellipse">
            <a:avLst/>
          </a:prstGeom>
          <a:solidFill>
            <a:srgbClr val="1FB6A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32257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671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data only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278892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tools use mock data instead of real building systems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61688" y="19659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1C1F52"/>
          </a:solidFill>
          <a:ln/>
        </p:spPr>
      </p:sp>
      <p:sp>
        <p:nvSpPr>
          <p:cNvPr id="10" name="Shape 7"/>
          <p:cNvSpPr/>
          <p:nvPr/>
        </p:nvSpPr>
        <p:spPr>
          <a:xfrm>
            <a:off x="4590288" y="2194560"/>
            <a:ext cx="502920" cy="502920"/>
          </a:xfrm>
          <a:prstGeom prst="ellipse">
            <a:avLst/>
          </a:prstGeom>
          <a:solidFill>
            <a:srgbClr val="1FB6A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232257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30368" y="21671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 yet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90288" y="278892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authorization are not yet implemented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83296" y="19659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1C1F52"/>
          </a:solidFill>
          <a:ln/>
        </p:spPr>
      </p:sp>
      <p:sp>
        <p:nvSpPr>
          <p:cNvPr id="15" name="Shape 11"/>
          <p:cNvSpPr/>
          <p:nvPr/>
        </p:nvSpPr>
        <p:spPr>
          <a:xfrm>
            <a:off x="8311896" y="2194560"/>
            <a:ext cx="502920" cy="502920"/>
          </a:xfrm>
          <a:prstGeom prst="ellipse">
            <a:avLst/>
          </a:prstGeom>
          <a:solidFill>
            <a:srgbClr val="1FB6A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2322576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51976" y="21671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Non-persistent memory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11896" y="278892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 is stored in memory, lost on server restart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42519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1C1F52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4480560"/>
            <a:ext cx="502920" cy="502920"/>
          </a:xfrm>
          <a:prstGeom prst="ellipse">
            <a:avLst/>
          </a:prstGeom>
          <a:solidFill>
            <a:srgbClr val="1FB6A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4608576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4531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verification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68680" y="507492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focuses mainly on numerical values and asset identifiers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61688" y="42519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1C1F52"/>
          </a:solidFill>
          <a:ln/>
        </p:spPr>
      </p:sp>
      <p:sp>
        <p:nvSpPr>
          <p:cNvPr id="25" name="Shape 19"/>
          <p:cNvSpPr/>
          <p:nvPr/>
        </p:nvSpPr>
        <p:spPr>
          <a:xfrm>
            <a:off x="4590288" y="4480560"/>
            <a:ext cx="502920" cy="502920"/>
          </a:xfrm>
          <a:prstGeom prst="ellipse">
            <a:avLst/>
          </a:prstGeom>
          <a:solidFill>
            <a:srgbClr val="1FB6A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304" y="4608576"/>
            <a:ext cx="246888" cy="2468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30368" y="44531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90288" y="507492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cannot control building equipment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FUTURE IMPROVEMENTS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Path to Production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enhancements to increase scalability, security, and reliability.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F3F5F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222199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mock tools with real BACnet and SCADA integrations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6309360" y="2148840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F3F5FB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49440" y="222199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Redis or a database for persistent conversation memory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640080" y="3081528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F3F5F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15468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authentication and role-based access control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309360" y="3081528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F3F5FB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49440" y="315468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verification with semantic validation instead of rule-based checks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640080" y="4014216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F3F5F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1513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087368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Human-in-the-Loop approval before operational actions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6309360" y="4014216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F3F5FB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1513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0" y="4087368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streaming responses from the Supervisor Agent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640080" y="4946904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F3F5F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0840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80160" y="5020056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automatic document re-indexing for dynamic RAG</a:t>
            </a:r>
            <a:endParaRPr lang="en-US" sz="1180" dirty="0"/>
          </a:p>
        </p:txBody>
      </p:sp>
      <p:sp>
        <p:nvSpPr>
          <p:cNvPr id="26" name="Text 2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120640"/>
            <a:ext cx="82296" cy="82296"/>
          </a:xfrm>
          <a:prstGeom prst="ellipse">
            <a:avLst/>
          </a:prstGeom>
          <a:solidFill>
            <a:srgbClr val="1FB6A8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5577840"/>
            <a:ext cx="54864" cy="54864"/>
          </a:xfrm>
          <a:prstGeom prst="ellipse">
            <a:avLst/>
          </a:prstGeom>
          <a:solidFill>
            <a:srgbClr val="1FB6A8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760720"/>
            <a:ext cx="45720" cy="45720"/>
          </a:xfrm>
          <a:prstGeom prst="ellipse">
            <a:avLst/>
          </a:prstGeom>
          <a:solidFill>
            <a:srgbClr val="1FB6A8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737360" y="5394960"/>
            <a:ext cx="45720" cy="45720"/>
          </a:xfrm>
          <a:prstGeom prst="ellipse">
            <a:avLst/>
          </a:prstGeom>
          <a:solidFill>
            <a:srgbClr val="1FB6A8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6035040"/>
            <a:ext cx="36576" cy="36576"/>
          </a:xfrm>
          <a:prstGeom prst="ellipse">
            <a:avLst/>
          </a:prstGeom>
          <a:solidFill>
            <a:srgbClr val="1FB6A8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637276" y="1737360"/>
            <a:ext cx="914400" cy="914400"/>
          </a:xfrm>
          <a:prstGeom prst="ellipse">
            <a:avLst/>
          </a:prstGeom>
          <a:solidFill>
            <a:srgbClr val="1FB6A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5020" y="197510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0" y="292608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1979676" y="3794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AgenticOS — deterministic orchestration, transparent reasoning, and a clear path to production.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88636" y="4526280"/>
            <a:ext cx="2011680" cy="0"/>
          </a:xfrm>
          <a:prstGeom prst="line">
            <a:avLst/>
          </a:prstGeom>
          <a:noFill/>
          <a:ln w="25400">
            <a:solidFill>
              <a:srgbClr val="1FB6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AgenticOS Project Walkthrough</dc:title>
  <dc:subject>PptxGenJS Presentation</dc:subject>
  <dc:creator>AgenticOS</dc:creator>
  <cp:lastModifiedBy>AgenticOS</cp:lastModifiedBy>
  <cp:revision>1</cp:revision>
  <dcterms:created xsi:type="dcterms:W3CDTF">2026-07-05T02:33:50Z</dcterms:created>
  <dcterms:modified xsi:type="dcterms:W3CDTF">2026-07-05T02:33:50Z</dcterms:modified>
</cp:coreProperties>
</file>